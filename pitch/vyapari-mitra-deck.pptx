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Channel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0BAF2"/>
              </a:solidFill>
              <a:effectLst/>
            </c:spPr>
          </c:dPt>
          <c:dPt>
            <c:idx val="1"/>
            <c:bubble3D val="0"/>
            <c:spPr>
              <a:solidFill>
                <a:srgbClr val="E3E8EE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Paytm QR</c:v>
                </c:pt>
                <c:pt idx="1">
                  <c:v>Cash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68</c:v>
                </c:pt>
                <c:pt idx="1">
                  <c:v>32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C27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yush-170906/vyapari-mitra" TargetMode="Externa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yush-170906/vyapari-mitra" TargetMode="Externa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560320"/>
            <a:ext cx="6400800" cy="6400800"/>
          </a:xfrm>
          <a:prstGeom prst="ellipse">
            <a:avLst/>
          </a:prstGeom>
          <a:solidFill>
            <a:srgbClr val="E8F8FE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97680"/>
            <a:ext cx="5120640" cy="5120640"/>
          </a:xfrm>
          <a:prstGeom prst="ellipse">
            <a:avLst/>
          </a:prstGeom>
          <a:solidFill>
            <a:srgbClr val="E8F8FE"/>
          </a:solidFill>
          <a:ln/>
        </p:spPr>
      </p:sp>
      <p:pic>
        <p:nvPicPr>
          <p:cNvPr id="4" name="Image 0" descr="C:\Users\ASUS\Paytm_Hackthon\pitch\paytm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640080"/>
            <a:ext cx="1417320" cy="4465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486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BUILD FOR INDIA AI HACKATHON  ·  MUMBAI EDITION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860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VYAPARI MITRA</a:t>
            </a:r>
            <a:endParaRPr lang="en-US" sz="5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5204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Vernacular AI Copilot for Every Paytm Merchant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44348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00BA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Track: Merchant Growth AI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566160" y="443484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F2A93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66160" y="443484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Sarvam AI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63640" y="4434840"/>
            <a:ext cx="2331720" cy="502920"/>
          </a:xfrm>
          <a:prstGeom prst="roundRect">
            <a:avLst>
              <a:gd name="adj" fmla="val 18182"/>
            </a:avLst>
          </a:prstGeom>
          <a:solidFill>
            <a:srgbClr val="0B244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263640" y="443484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Fraud Shield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The Vision   |   Ayush Korde  ·  Harshita Girase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0" y="5989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3,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lang="en-US" sz="3100" dirty="0"/>
          </a:p>
        </p:txBody>
      </p:sp>
      <p:pic>
        <p:nvPicPr>
          <p:cNvPr id="3" name="Image 0" descr="C:\Users\ASUS\Paytm_Hackthon\pitch\paytm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566928"/>
            <a:ext cx="914400" cy="2880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051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Paytm merchants get payments infrastructure — but not a growth partner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40080" y="1874520"/>
            <a:ext cx="52120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60120" y="2194560"/>
            <a:ext cx="685800" cy="685800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148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barrier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92608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kirana/local merchants think and decide in Hindi or a regional language — not English dashboards or app menus.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1874520"/>
            <a:ext cx="52120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194560"/>
            <a:ext cx="685800" cy="68580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2148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business insight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92608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top products, and complaints sit in raw transaction data merchants never actually see or understand.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4023360"/>
            <a:ext cx="52120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60120" y="4343400"/>
            <a:ext cx="685800" cy="685800"/>
          </a:xfrm>
          <a:prstGeom prst="ellipse">
            <a:avLst/>
          </a:prstGeom>
          <a:solidFill>
            <a:srgbClr val="1FAA6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60120" y="4343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4297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 to analyze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50749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shopkeeper running the counter all day has no time to read analytics — they need a 3-second spoken answer.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126480" y="4023360"/>
            <a:ext cx="521208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46520" y="4343400"/>
            <a:ext cx="685800" cy="6858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4343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250" dirty="0"/>
          </a:p>
        </p:txBody>
      </p:sp>
      <p:sp>
        <p:nvSpPr>
          <p:cNvPr id="23" name="Text 20"/>
          <p:cNvSpPr txBox="1"/>
          <p:nvPr/>
        </p:nvSpPr>
        <p:spPr>
          <a:xfrm>
            <a:off x="7315200" y="4297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Fake-payment fraud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507492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FY25: 13,516 digital-payment fraud cases worth ₹520 crore; NPCI projects UPI fraud incidents to cross 1.1M — QR-swap and fake-screenshot scams hit small merchants daily.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 rot="300000">
            <a:off x="9966960" y="379476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 rot="300000">
            <a:off x="9966960" y="3794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real gap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Solution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6400800" cy="4937760"/>
          </a:xfrm>
          <a:prstGeom prst="roundRect">
            <a:avLst>
              <a:gd name="adj" fmla="val 2593"/>
            </a:avLst>
          </a:prstGeom>
          <a:solidFill>
            <a:srgbClr val="0B244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05840" y="16002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AI business partner that talks to merchants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their own language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1005840" y="2697480"/>
            <a:ext cx="502920" cy="502920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asks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99008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hafte ka sales kaisa raha?" — in Hindi/Hinglish, by voice or text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05840" y="3520440"/>
            <a:ext cx="502920" cy="502920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47472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 understands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81304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Indian-language LLM reads intent + merchant's own sales/product/rating data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05840" y="4343400"/>
            <a:ext cx="502920" cy="502920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Vyapari Mitra replies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63600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insight + ONE concrete action — never just a chart or number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" y="5166360"/>
            <a:ext cx="502920" cy="502920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5166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691640" y="51206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acts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54589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suggestions: launch cashback, bundle a product, fix a complaint driver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52360" y="1051560"/>
            <a:ext cx="4160520" cy="5486400"/>
          </a:xfrm>
          <a:prstGeom prst="roundRect">
            <a:avLst>
              <a:gd name="adj" fmla="val 6154"/>
            </a:avLst>
          </a:prstGeom>
          <a:solidFill>
            <a:srgbClr val="13315C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pic>
        <p:nvPicPr>
          <p:cNvPr id="22" name="Image 0" descr="C:\Users\ASUS\Paytm_Hackthon\pitch\demo-sh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234440"/>
            <a:ext cx="379476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 Moat: Real-Time Fraud Shield</a:t>
            </a:r>
            <a:endParaRPr lang="en-US" sz="2800" dirty="0"/>
          </a:p>
        </p:txBody>
      </p:sp>
      <p:pic>
        <p:nvPicPr>
          <p:cNvPr id="3" name="Image 0" descr="C:\Users\ASUS\Paytm_Hackthon\pitch\paytm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566928"/>
            <a:ext cx="914400" cy="28806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 rot="-240000">
            <a:off x="7818120" y="1097280"/>
            <a:ext cx="182880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 rot="-240000">
            <a:off x="7818120" y="1097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nobody else builds this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051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every other 'merchant insights' bot skips — because it protects money, not just gives advice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5394960" cy="4480560"/>
          </a:xfrm>
          <a:prstGeom prst="roundRect">
            <a:avLst>
              <a:gd name="adj" fmla="val 2857"/>
            </a:avLst>
          </a:prstGeom>
          <a:solidFill>
            <a:srgbClr val="FBEA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2011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 Paytm already fights every day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14400" y="2514600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417320" y="2441448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Fraudsters paste a fake QR sticker over a merchant's real QR — every scan pays the attacker, not the shop.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914400" y="3410712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417320" y="333756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customer shows a fake “payment successful” screenshot from a modified app and walks off with the goods.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14400" y="4306824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14400" y="4306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4233672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FY25: 13,516 digital-payment fraud cases worth ₹520 crore. NPCI projects UPI fraud incidents to cross 1.1M.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14400" y="5202936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14400" y="5202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417320" y="5129784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2026, Basti (UP): two arrested for exactly this — fake UPI screenshots, cash taken, no real payment made.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263640" y="1783080"/>
            <a:ext cx="3246120" cy="4480560"/>
          </a:xfrm>
          <a:prstGeom prst="roundRect">
            <a:avLst>
              <a:gd name="adj" fmla="val 3944"/>
            </a:avLst>
          </a:prstGeom>
          <a:solidFill>
            <a:srgbClr val="0B2447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92240" y="19659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Vyapari Mitra closes it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6492240" y="2606040"/>
            <a:ext cx="329184" cy="329184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492240" y="2606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B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80" dirty="0"/>
          </a:p>
        </p:txBody>
      </p:sp>
      <p:sp>
        <p:nvSpPr>
          <p:cNvPr id="25" name="Text 22"/>
          <p:cNvSpPr txBox="1"/>
          <p:nvPr/>
        </p:nvSpPr>
        <p:spPr>
          <a:xfrm>
            <a:off x="6903720" y="25511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Voice-verify any screenshot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903720" y="2843784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Cross-checks the real Paytm settlement ledger in real time, in Hindi.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492240" y="3776472"/>
            <a:ext cx="329184" cy="329184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49224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B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80" dirty="0"/>
          </a:p>
        </p:txBody>
      </p:sp>
      <p:sp>
        <p:nvSpPr>
          <p:cNvPr id="29" name="Text 26"/>
          <p:cNvSpPr txBox="1"/>
          <p:nvPr/>
        </p:nvSpPr>
        <p:spPr>
          <a:xfrm>
            <a:off x="6903720" y="372160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silent QR-swaps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903720" y="4014216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it when Soundbox stays quiet while the merchant says sales are happening.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492240" y="4946904"/>
            <a:ext cx="329184" cy="329184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49224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0B2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80" dirty="0"/>
          </a:p>
        </p:txBody>
      </p:sp>
      <p:sp>
        <p:nvSpPr>
          <p:cNvPr id="33" name="Text 30"/>
          <p:cNvSpPr txBox="1"/>
          <p:nvPr/>
        </p:nvSpPr>
        <p:spPr>
          <a:xfrm>
            <a:off x="6903720" y="48920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new hardware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903720" y="518464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Soundbox + settlement data Paytm already has.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692640" y="1783080"/>
            <a:ext cx="1965960" cy="4480560"/>
          </a:xfrm>
          <a:prstGeom prst="roundRect">
            <a:avLst>
              <a:gd name="adj" fmla="val 9302"/>
            </a:avLst>
          </a:prstGeom>
          <a:solidFill>
            <a:srgbClr val="13315C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pic>
        <p:nvPicPr>
          <p:cNvPr id="36" name="Image 1" descr="C:\Users\ASUS\Paytm_Hackthon\pitch\demo-fraud-proo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1512" y="1901952"/>
            <a:ext cx="1728216" cy="1773936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9811512" y="3749040"/>
            <a:ext cx="17282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9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output from the working prototype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 — Vyapari Mitra in Action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web app · Sarvam-105B model  ·  </a:t>
            </a:r>
            <a:pPr indent="0" marL="0">
              <a:buNone/>
            </a:pPr>
            <a:r>
              <a:rPr lang="en-US" sz="1200" b="1" u="sng" dirty="0">
                <a:solidFill>
                  <a:srgbClr val="0090C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github.com/Ayush-170906/vyapari-mitra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818120" y="1005840"/>
            <a:ext cx="3749040" cy="5349240"/>
          </a:xfrm>
          <a:prstGeom prst="roundRect">
            <a:avLst>
              <a:gd name="adj" fmla="val 6829"/>
            </a:avLst>
          </a:prstGeom>
          <a:solidFill>
            <a:srgbClr val="0B2447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pic>
        <p:nvPicPr>
          <p:cNvPr id="5" name="Image 0" descr="C:\Users\ASUS\Paytm_Hackthon\pitch\demo-sho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01000" y="1188720"/>
            <a:ext cx="3383280" cy="5029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783080"/>
            <a:ext cx="685800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96112" y="1956816"/>
            <a:ext cx="548640" cy="548640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85623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ka sawaal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2167128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hafte ka sales kaisa raha, detail mein batao” — typed in Hinglish, exactly like a shopkeeper would ask a friend.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2834640"/>
            <a:ext cx="685800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96112" y="3008376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96112" y="3008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290779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ka apna context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218688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AI ko un's sales (₹1.82L, +14%), top products, aur ratings pehle se pata hain — koi generic jawab nahi.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3886200"/>
            <a:ext cx="685800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96112" y="4059936"/>
            <a:ext cx="548640" cy="548640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96112" y="4059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9593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Action-first jawab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270248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Sirf number nahi — ek specific suggestion: 'Weekend pe Extra Cashback banner Paytm QR ke paas laga dein.'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" y="4937760"/>
            <a:ext cx="685800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96112" y="5111496"/>
            <a:ext cx="548640" cy="54864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96112" y="5111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501091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Ek-tap follow-up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5321808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Quick-suggestion chips se merchant turant agla sawaal pooch sakta hai — koi typing friction nahi.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Technology / Tech Stack</a:t>
            </a:r>
            <a:endParaRPr lang="en-US" sz="3000" dirty="0"/>
          </a:p>
        </p:txBody>
      </p:sp>
      <p:pic>
        <p:nvPicPr>
          <p:cNvPr id="3" name="Image 0" descr="C:\Users\ASUS\Paytm_Hackthon\pitch\paytm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566928"/>
            <a:ext cx="914400" cy="2880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0515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Lean, API-first stack — built to demo in hours, scale to millions of merchants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40080" y="187452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148840"/>
            <a:ext cx="594360" cy="594360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40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9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Sarvam-105B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17296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Indian-language LLM — understands Hindi/Hinglish merchant queries natively, no translation layer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43400" y="187452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14884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1772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9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(HTML/JS)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17296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installs nowhere — works on any merchant's phone browser, low-bandwidth friendly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046720" y="187452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1FAA6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21488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</a:t>
            </a:r>
            <a:endParaRPr lang="en-US" sz="195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834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Merchant APIs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317296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settlement, and QR transaction data feed the copilot's real-time business context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0080" y="402336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14400" y="4297680"/>
            <a:ext cx="594360" cy="594360"/>
          </a:xfrm>
          <a:prstGeom prst="ellipse">
            <a:avLst/>
          </a:prstGeom>
          <a:solidFill>
            <a:srgbClr val="0090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14400" y="4297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95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Workflows</a:t>
            </a:r>
            <a:endParaRPr lang="en-US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868680" y="53218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Automates the suggested action itself — e.g. auto-triggers a cashback campaign, not just advice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402336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617720" y="4297680"/>
            <a:ext cx="594360" cy="59436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617720" y="4297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9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Cognee Memory</a:t>
            </a:r>
            <a:endParaRPr lang="en-US" sz="1450" dirty="0"/>
          </a:p>
        </p:txBody>
      </p:sp>
      <p:sp>
        <p:nvSpPr>
          <p:cNvPr id="29" name="Text 26"/>
          <p:cNvSpPr txBox="1"/>
          <p:nvPr/>
        </p:nvSpPr>
        <p:spPr>
          <a:xfrm>
            <a:off x="4572000" y="53218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merchant memory layer — copilot remembers past patterns across sessions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046720" y="4023360"/>
            <a:ext cx="3474720" cy="192024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8321040" y="4297680"/>
            <a:ext cx="594360" cy="59436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321040" y="4297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95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8275320" y="53218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merchant profiles, transaction history, and conversation logs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 rot="-360000">
            <a:off x="3063240" y="1664208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1FAA6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 rot="-360000">
            <a:off x="3063240" y="166420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sponsor tech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Architecture</a:t>
            </a:r>
            <a:endParaRPr lang="en-US" sz="3200" dirty="0"/>
          </a:p>
        </p:txBody>
      </p:sp>
      <p:pic>
        <p:nvPicPr>
          <p:cNvPr id="3" name="Image 0" descr="C:\Users\ASUS\Paytm_Hackthon\pitch\paytm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530352"/>
            <a:ext cx="914400" cy="2880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9875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request, five hops — from a merchant's voice to a verified action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94360" y="169164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13315C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691640"/>
            <a:ext cx="18288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80514"/>
            <a:ext cx="1828800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or text,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Hindi/Hinglish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834640" y="169164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13315C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26080" y="1691640"/>
            <a:ext cx="18288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Vyapari Mitra App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2280514"/>
            <a:ext cx="1828800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app, no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needed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074920" y="169164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13315C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166360" y="1691640"/>
            <a:ext cx="18288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Sarvam-105B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2280514"/>
            <a:ext cx="1828800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9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Hindi/Hinglish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+ NLU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7315200" y="169164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0392B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406640" y="1691640"/>
            <a:ext cx="18288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280514"/>
            <a:ext cx="1828800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engine +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5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Shield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9555480" y="169164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0090C4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9646920" y="1691640"/>
            <a:ext cx="18288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9646920" y="2280514"/>
            <a:ext cx="1828800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+ written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D9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to merchant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2606040" y="2217420"/>
            <a:ext cx="228600" cy="9144"/>
          </a:xfrm>
          <a:prstGeom prst="line">
            <a:avLst/>
          </a:prstGeom>
          <a:noFill/>
          <a:ln w="22225">
            <a:solidFill>
              <a:srgbClr val="13315C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4846320" y="2217420"/>
            <a:ext cx="228600" cy="9144"/>
          </a:xfrm>
          <a:prstGeom prst="line">
            <a:avLst/>
          </a:prstGeom>
          <a:noFill/>
          <a:ln w="22225">
            <a:solidFill>
              <a:srgbClr val="13315C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7086600" y="2217420"/>
            <a:ext cx="228600" cy="9144"/>
          </a:xfrm>
          <a:prstGeom prst="line">
            <a:avLst/>
          </a:prstGeom>
          <a:noFill/>
          <a:ln w="22225">
            <a:solidFill>
              <a:srgbClr val="13315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9326880" y="2217420"/>
            <a:ext cx="228600" cy="9144"/>
          </a:xfrm>
          <a:prstGeom prst="line">
            <a:avLst/>
          </a:prstGeom>
          <a:noFill/>
          <a:ln w="22225">
            <a:solidFill>
              <a:srgbClr val="13315C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3703320" y="3813048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SPONSOR-TECH LAYER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703320" y="416052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3794760" y="41605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Cognee Memory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715000" y="416052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5806440" y="41605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Settlement API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726680" y="416052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7818120" y="41605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Soundbox Signal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738360" y="416052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829800" y="41605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Workflows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 flipV="1">
            <a:off x="4594860" y="2743200"/>
            <a:ext cx="1988820" cy="1417320"/>
          </a:xfrm>
          <a:prstGeom prst="line">
            <a:avLst/>
          </a:prstGeom>
          <a:noFill/>
          <a:ln w="22225">
            <a:solidFill>
              <a:srgbClr val="13315C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 flipV="1">
            <a:off x="6606540" y="2743200"/>
            <a:ext cx="1312164" cy="1417320"/>
          </a:xfrm>
          <a:prstGeom prst="line">
            <a:avLst/>
          </a:prstGeom>
          <a:noFill/>
          <a:ln w="22225">
            <a:solidFill>
              <a:srgbClr val="13315C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 flipV="1">
            <a:off x="8618220" y="2743200"/>
            <a:ext cx="105156" cy="1417320"/>
          </a:xfrm>
          <a:prstGeom prst="line">
            <a:avLst/>
          </a:prstGeom>
          <a:noFill/>
          <a:ln w="22225">
            <a:solidFill>
              <a:srgbClr val="13315C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522208" y="2743200"/>
            <a:ext cx="2107692" cy="1417320"/>
          </a:xfrm>
          <a:prstGeom prst="line">
            <a:avLst/>
          </a:prstGeom>
          <a:noFill/>
          <a:ln w="22225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7" name="Shape 34"/>
          <p:cNvSpPr/>
          <p:nvPr/>
        </p:nvSpPr>
        <p:spPr>
          <a:xfrm rot="240000">
            <a:off x="8366760" y="3246120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2A93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 rot="240000">
            <a:off x="836676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B244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action, not just advice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Vyapari Mitra Wins</a:t>
            </a:r>
            <a:endParaRPr lang="en-US" sz="3300" dirty="0"/>
          </a:p>
        </p:txBody>
      </p:sp>
      <p:pic>
        <p:nvPicPr>
          <p:cNvPr id="3" name="Image 0" descr="C:\Users\ASUS\Paytm_Hackthon\pitch\paytm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530352"/>
            <a:ext cx="914400" cy="2880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0241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straight, feature-by-feature comparison against every category of alternative on the market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27080" cy="914400"/>
        </p:xfrm>
        <a:graphic>
          <a:graphicData uri="http://schemas.openxmlformats.org/drawingml/2006/table">
            <a:tbl>
              <a:tblPr/>
              <a:tblGrid>
                <a:gridCol w="4343400"/>
                <a:gridCol w="1691640"/>
                <a:gridCol w="1691640"/>
                <a:gridCol w="1691640"/>
                <a:gridCol w="15087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D6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D6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D6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D6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D6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Fraud-Detection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D6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Vyapari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0C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Understands Hindi/Hinglish natively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AA6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in THIS merchant's own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AA6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AA6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Gives ONE concrete action, not raw numbers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AA6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fraud &amp; QR-swap protection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AA6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AA6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trigger the action itself (n8n)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AA6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new hardware or app install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AA6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AA6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C7CDD6"/>
                          </a:solidFill>
                        </a:rPr>
                        <a:t>✗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FAA6B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 rot="240000">
            <a:off x="9052560" y="1051560"/>
            <a:ext cx="2194560" cy="457200"/>
          </a:xfrm>
          <a:prstGeom prst="roundRect">
            <a:avLst>
              <a:gd name="adj" fmla="val 12000"/>
            </a:avLst>
          </a:prstGeom>
          <a:solidFill>
            <a:srgbClr val="F2A93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 rot="240000">
            <a:off x="9052560" y="1051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B244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full picture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&amp; Benefits</a:t>
            </a:r>
            <a:endParaRPr lang="en-US" sz="3500" dirty="0"/>
          </a:p>
        </p:txBody>
      </p:sp>
      <p:pic>
        <p:nvPicPr>
          <p:cNvPr id="3" name="Image 0" descr="C:\Users\ASUS\Paytm_Hackthon\pitch\paytm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566928"/>
            <a:ext cx="914400" cy="28806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73736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40080" y="1874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90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4M+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Paytm merchants who could get a growth copilot instantly, at near-zero marginal cost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343400" y="1874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90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10+</a:t>
            </a:r>
            <a:endParaRPr lang="en-US" sz="46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languages Sarvam AI can extend Vyapari Mitra to beyond this Mumbai demo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046720" y="1737360"/>
            <a:ext cx="34747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046720" y="18745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090C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46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6974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apps to install — works inside the merchant's existing Paytm touchpoints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3886200"/>
            <a:ext cx="502920" cy="502920"/>
          </a:xfrm>
          <a:prstGeom prst="ellipse">
            <a:avLst/>
          </a:prstGeom>
          <a:solidFill>
            <a:srgbClr val="1FAA6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3886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385876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Merchants: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385876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sales through personalised nudges, plus real money saved from fraud caught before it happens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4727448"/>
            <a:ext cx="502920" cy="502920"/>
          </a:xfrm>
          <a:prstGeom prst="ellipse">
            <a:avLst/>
          </a:prstGeom>
          <a:solidFill>
            <a:srgbClr val="1FAA6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40080" y="4727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47000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Paytm: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474720" y="4700016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fraud disputes and chargeback complaints to resolve — and a daily reason to open the app beyond payments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40080" y="5568696"/>
            <a:ext cx="502920" cy="502920"/>
          </a:xfrm>
          <a:prstGeom prst="ellipse">
            <a:avLst/>
          </a:prstGeom>
          <a:solidFill>
            <a:srgbClr val="1FAA6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0080" y="55686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554126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India's Economy: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474720" y="554126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small businesses get enterprise-grade growth intelligence and fraud protection in their own language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Wins</a:t>
            </a:r>
            <a:endParaRPr lang="en-US" sz="3000" dirty="0"/>
          </a:p>
        </p:txBody>
      </p:sp>
      <p:pic>
        <p:nvPicPr>
          <p:cNvPr id="3" name="Image 0" descr="C:\Users\ASUS\Paytm_Hackthon\pitch\paytm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566928"/>
            <a:ext cx="914400" cy="2880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0515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capabilities nobody else combines, on top of the data merchants already generate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1783080" y="1691640"/>
            <a:ext cx="2743200" cy="2743200"/>
          </a:xfrm>
          <a:prstGeom prst="ellipse">
            <a:avLst/>
          </a:prstGeom>
          <a:solidFill>
            <a:srgbClr val="00BAF2">
              <a:alpha val="55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3108960"/>
            <a:ext cx="2743200" cy="2743200"/>
          </a:xfrm>
          <a:prstGeom prst="ellipse">
            <a:avLst/>
          </a:prstGeom>
          <a:solidFill>
            <a:srgbClr val="C0392B">
              <a:alpha val="55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926080" y="3108960"/>
            <a:ext cx="2743200" cy="2743200"/>
          </a:xfrm>
          <a:prstGeom prst="ellipse">
            <a:avLst/>
          </a:prstGeom>
          <a:solidFill>
            <a:srgbClr val="F2A93B">
              <a:alpha val="55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514600" y="365760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0B2447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514600" y="36576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Vyapari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 rot="-120000">
            <a:off x="1965960" y="1481328"/>
            <a:ext cx="2011680" cy="438912"/>
          </a:xfrm>
          <a:prstGeom prst="roundRect">
            <a:avLst>
              <a:gd name="adj" fmla="val 12500"/>
            </a:avLst>
          </a:prstGeom>
          <a:solidFill>
            <a:srgbClr val="00BAF2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 rot="-120000">
            <a:off x="1965960" y="148132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B244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Vernacular AI (Sarvam)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 rot="-240000">
            <a:off x="320040" y="553212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 rot="-240000">
            <a:off x="320040" y="5532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Fraud Shield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 rot="180000">
            <a:off x="4114800" y="5532120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F2A93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 rot="180000">
            <a:off x="4114800" y="55321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B2447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Autonomous Action (n8n)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Channel Mix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537960" y="2011680"/>
          <a:ext cx="484632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537960" y="498348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 of transactions already run through Paytm QR — exactly the ledger Fraud Shield cross-checks against.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Business Model</a:t>
            </a:r>
            <a:endParaRPr lang="en-US" sz="2900" dirty="0"/>
          </a:p>
        </p:txBody>
      </p:sp>
      <p:pic>
        <p:nvPicPr>
          <p:cNvPr id="3" name="Image 0" descr="C:\Users\ASUS\Paytm_Hackthon\pitch\paytm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566928"/>
            <a:ext cx="914400" cy="2880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plug into Paytm's existing merchant monetisation — not a separate product to sell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>
            <a:off x="640080" y="182880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60120" y="2148840"/>
            <a:ext cx="685800" cy="685800"/>
          </a:xfrm>
          <a:prstGeom prst="ellipse">
            <a:avLst/>
          </a:prstGeom>
          <a:solidFill>
            <a:srgbClr val="00BAF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212140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Freemium Copilot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292608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basic insights for every merchant; premium tier for automated campaign execution &amp; deeper analytics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26480" y="182880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148840"/>
            <a:ext cx="685800" cy="685800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21488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212140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Subscription Add-on</a:t>
            </a:r>
            <a:endParaRPr lang="en-US" sz="155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92608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inside existing Paytm for Business plans as a value-add tier — low CAC, existing distribution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" y="402336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60120" y="4343400"/>
            <a:ext cx="685800" cy="685800"/>
          </a:xfrm>
          <a:prstGeom prst="ellipse">
            <a:avLst/>
          </a:prstGeom>
          <a:solidFill>
            <a:srgbClr val="1FAA6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60120" y="4343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431596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Growth Actions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512064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 pay to surface relevant offers (e.g. supplier discounts) through the copilot's suggestions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26480" y="402336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B2447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446520" y="4343400"/>
            <a:ext cx="685800" cy="685800"/>
          </a:xfrm>
          <a:prstGeom prst="ellipse">
            <a:avLst/>
          </a:prstGeom>
          <a:solidFill>
            <a:srgbClr val="0090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4343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250" dirty="0"/>
          </a:p>
        </p:txBody>
      </p:sp>
      <p:sp>
        <p:nvSpPr>
          <p:cNvPr id="23" name="Text 20"/>
          <p:cNvSpPr txBox="1"/>
          <p:nvPr/>
        </p:nvSpPr>
        <p:spPr>
          <a:xfrm>
            <a:off x="7315200" y="431596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Insights (B2B)</a:t>
            </a:r>
            <a:endParaRPr lang="en-US" sz="155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5120640"/>
            <a:ext cx="4617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Anonymised, aggregated local-commerce trend data licensed to FMCG/brand partners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40080" y="6263640"/>
            <a:ext cx="457200" cy="457200"/>
          </a:xfrm>
          <a:prstGeom prst="ellipse">
            <a:avLst/>
          </a:prstGeom>
          <a:solidFill>
            <a:srgbClr val="0B2447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0080" y="6263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624535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compliance-first: no fund movement by the copilot itself — every payment/cashback action stays inside Paytm's existing NPCI-compliant rails; Vyapari Mitra only recommends and triggers, it never touches money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560320" y="-2743200"/>
            <a:ext cx="5486400" cy="5486400"/>
          </a:xfrm>
          <a:prstGeom prst="ellipse">
            <a:avLst/>
          </a:prstGeom>
          <a:solidFill>
            <a:srgbClr val="E8F8FE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4114800"/>
            <a:ext cx="5029200" cy="5029200"/>
          </a:xfrm>
          <a:prstGeom prst="ellipse">
            <a:avLst/>
          </a:prstGeom>
          <a:solidFill>
            <a:srgbClr val="E8F8FE"/>
          </a:solidFill>
          <a:ln/>
        </p:spPr>
      </p:sp>
      <p:pic>
        <p:nvPicPr>
          <p:cNvPr id="4" name="Image 0" descr="C:\Users\ASUS\Paytm_Hackthon\pitch\paytm_logo_cl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640080"/>
            <a:ext cx="1417320" cy="4465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0B24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with AI. Solve for India.</a:t>
            </a:r>
            <a:endParaRPr lang="en-US" sz="4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2461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Vyapari Mitra — giving every Paytm merchant an AI business partner who speaks their language.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The Vision   ·   Ayush Korde  &amp;  Harshita Girase   ·   Powered by Sarvam AI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working prototype: </a:t>
            </a:r>
            <a:pPr indent="0" marL="0">
              <a:buNone/>
            </a:pPr>
            <a:r>
              <a:rPr lang="en-US" sz="1250" b="1" u="sng" dirty="0">
                <a:solidFill>
                  <a:srgbClr val="0090C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github.com/Ayush-170906/vyapari-mitra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2026-09-26T19:06:56Z</dcterms:created>
  <dcterms:modified xsi:type="dcterms:W3CDTF">2026-09-26T19:06:56Z</dcterms:modified>
</cp:coreProperties>
</file>