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AF2"/>
              </a:solidFill>
              <a:effectLst/>
            </c:spPr>
          </c:dPt>
          <c:dPt>
            <c:idx val="1"/>
            <c:bubble3D val="0"/>
            <c:spPr>
              <a:solidFill>
                <a:srgbClr val="E3E8EE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Paytm QR</c:v>
                </c:pt>
                <c:pt idx="1">
                  <c:v>Cash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C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560320"/>
            <a:ext cx="6400800" cy="6400800"/>
          </a:xfrm>
          <a:prstGeom prst="ellipse">
            <a:avLst/>
          </a:prstGeom>
          <a:solidFill>
            <a:srgbClr val="E8F8FE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97680"/>
            <a:ext cx="5120640" cy="5120640"/>
          </a:xfrm>
          <a:prstGeom prst="ellipse">
            <a:avLst/>
          </a:prstGeom>
          <a:solidFill>
            <a:srgbClr val="E8F8FE"/>
          </a:solidFill>
          <a:ln/>
        </p:spPr>
      </p:sp>
      <p:pic>
        <p:nvPicPr>
          <p:cNvPr id="4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640080"/>
            <a:ext cx="1417320" cy="446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48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BUILD FOR INDIA AI HACKATHON  ·  MUMBAI EDITION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VYAPARI MITRA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Vernacular AI Copilot for Every Paytm Merchant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0BA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Merchant Growth AI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66160" y="443484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66160" y="4434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Sarvam AI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443484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0B244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63640" y="4434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Fraud Shield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The Vision   |   Ayush Korde  ·  Harshita Girase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5989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3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566928"/>
            <a:ext cx="914400" cy="288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Paytm merchants get payments infrastructure — but not a growth partner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kirana/local merchants think and decide in Hindi or a regional language — not English dashboards or app menus.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87452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19456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insight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top products, and complaints sit in raw transaction data merchants never actually see or understand.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02336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4343400"/>
            <a:ext cx="685800" cy="685800"/>
          </a:xfrm>
          <a:prstGeom prst="ellipse">
            <a:avLst/>
          </a:prstGeom>
          <a:solidFill>
            <a:srgbClr val="1FAA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to analyze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5074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shopkeeper running the counter all day has no time to read analytics — they need a 3-second spoken answer.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402336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46520" y="434340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4652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Fake-payment fraud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5074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FY25: 13,516 digital-payment fraud cases worth ₹520 crore; NPCI projects UPI fraud incidents to cross 1.1M — QR-swap and fake-screenshot scams hit small merchants daily.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 rot="300000">
            <a:off x="9966960" y="37947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 rot="300000">
            <a:off x="996696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real gap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0" cy="4937760"/>
          </a:xfrm>
          <a:prstGeom prst="roundRect">
            <a:avLst>
              <a:gd name="adj" fmla="val 2593"/>
            </a:avLst>
          </a:prstGeom>
          <a:solidFill>
            <a:srgbClr val="0B24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002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AI business partner that talks to merchants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their own language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05840" y="269748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51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asks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9900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hafte ka sales kaisa raha?" — in Hindi/Hinglish, by voice or 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52044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474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understands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8130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Indian-language LLM reads intent + merchant's own sales/product/rating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434340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297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Vyapari Mitra replies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6360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insight + ONE concrete action — never just a chart or number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516636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120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acts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458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suggestions: launch cashback, bundle a product, fix a complaint driver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1051560"/>
            <a:ext cx="4160520" cy="5486400"/>
          </a:xfrm>
          <a:prstGeom prst="roundRect">
            <a:avLst>
              <a:gd name="adj" fmla="val 6154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pic>
        <p:nvPicPr>
          <p:cNvPr id="22" name="Image 0" descr="C:\Users\ASUS\Paytm_Hackthon\pitch\demo-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234440"/>
            <a:ext cx="37947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Moat: Real-Time Fraud Shield</a:t>
            </a:r>
            <a:endParaRPr lang="en-US" sz="2800" dirty="0"/>
          </a:p>
        </p:txBody>
      </p:sp>
      <p:pic>
        <p:nvPicPr>
          <p:cNvPr id="3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566928"/>
            <a:ext cx="914400" cy="28806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-240000">
            <a:off x="7818120" y="10972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 rot="-240000">
            <a:off x="781812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nobody else builds this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every other 'merchant insights' bot skips — because it protects money, not just gives advice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BEA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2011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Paytm already fights every day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25146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44144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paste a fake QR sticker over a merchant's real QR — every scan pays the attacker, not the shop.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41071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3375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customer shows a fake “payment successful” screenshot from a modified app and walks off with the goods.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4400" y="4306824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4233672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FY25: 13,516 digital-payment fraud cases worth ₹520 crore. NPCI projects UPI fraud incidents to cross 1.1M.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" y="5202936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5129784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2026, Basti (UP): two arrested for exactly this — fake UPI screenshots, cash taken, no real payment made.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63640" y="1783080"/>
            <a:ext cx="3246120" cy="4480560"/>
          </a:xfrm>
          <a:prstGeom prst="roundRect">
            <a:avLst>
              <a:gd name="adj" fmla="val 3944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92240" y="1965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Vyapari Mitra closes it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92240" y="2606040"/>
            <a:ext cx="329184" cy="329184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9224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8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25511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Voice-verify any screenshot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903720" y="284378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the real Paytm settlement ledger in real time, in Hindi.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92240" y="3776472"/>
            <a:ext cx="329184" cy="329184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9224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80" dirty="0"/>
          </a:p>
        </p:txBody>
      </p:sp>
      <p:sp>
        <p:nvSpPr>
          <p:cNvPr id="29" name="Text 26"/>
          <p:cNvSpPr txBox="1"/>
          <p:nvPr/>
        </p:nvSpPr>
        <p:spPr>
          <a:xfrm>
            <a:off x="6903720" y="3721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silent QR-swaps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903720" y="401421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it when Soundbox stays quiet while the merchant says sales are happening.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492240" y="4946904"/>
            <a:ext cx="329184" cy="329184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92240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8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892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hardware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5184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Soundbox + settlement data Paytm already has.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692640" y="1783080"/>
            <a:ext cx="1965960" cy="4480560"/>
          </a:xfrm>
          <a:prstGeom prst="roundRect">
            <a:avLst>
              <a:gd name="adj" fmla="val 930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pic>
        <p:nvPicPr>
          <p:cNvPr id="36" name="Image 1" descr="C:\Users\ASUS\Paytm_Hackthon\pitch\demo-fraud-proo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901952"/>
            <a:ext cx="1728216" cy="1773936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9811512" y="374904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from the working prototype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 — Vyapari Mitra in Action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· web app · Sarvam-105B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0"/>
            <a:ext cx="3749040" cy="5349240"/>
          </a:xfrm>
          <a:prstGeom prst="roundRect">
            <a:avLst>
              <a:gd name="adj" fmla="val 6829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pic>
        <p:nvPicPr>
          <p:cNvPr id="5" name="Image 0" descr="C:\Users\ASUS\Paytm_Hackthon\pitch\demo-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1188720"/>
            <a:ext cx="338328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68580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1956816"/>
            <a:ext cx="548640" cy="54864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8562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ka sawaal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16712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hafte ka sales kaisa raha, detail mein batao” — typed in Hinglish, exactly like a shopkeeper would ask a friend.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834640"/>
            <a:ext cx="68580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96112" y="3008376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96112" y="3008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9077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ka apna context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21868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ko un's sales (₹1.82L, +14%), top products, aur ratings pehle se pata hain — koi generic jawab nahi.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886200"/>
            <a:ext cx="68580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96112" y="4059936"/>
            <a:ext cx="548640" cy="54864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9593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Action-first jawab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27024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number nahi — ek specific suggestion: 'Weekend pe Extra Cashback banner Paytm QR ke paas laga dein.'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4937760"/>
            <a:ext cx="68580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96112" y="5111496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96112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50109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Ek-tap follow-up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532180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Quick-suggestion chips se merchant turant agla sawaal pooch sakta hai — koi typing friction nahi.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/ Tech Stack</a:t>
            </a:r>
            <a:endParaRPr lang="en-US" sz="3000" dirty="0"/>
          </a:p>
        </p:txBody>
      </p:sp>
      <p:pic>
        <p:nvPicPr>
          <p:cNvPr id="3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566928"/>
            <a:ext cx="914400" cy="288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API-first stack — built to demo in hours, scale to millions of merchants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Sarvam-105B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729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Indian-language LLM — understands Hindi/Hinglish merchant queries natively, no translation layer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4884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77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(HTML/JS)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1729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installs nowhere — works on any merchant's phone browser, low-bandwidth friendly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18745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1FAA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195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Merchant APIs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31729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settlement, and QR transaction data feed the copilot's real-time business context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4023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14400" y="4297680"/>
            <a:ext cx="594360" cy="594360"/>
          </a:xfrm>
          <a:prstGeom prst="ellipse">
            <a:avLst/>
          </a:prstGeom>
          <a:solidFill>
            <a:srgbClr val="0090C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95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53218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suggested action itself — e.g. auto-triggers a cashback campaign, not just advice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43400" y="4023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17720" y="429768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61772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9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Cognee Memory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53218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merchant memory layer — copilot remembers past patterns across sessions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46720" y="4023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21040" y="4297680"/>
            <a:ext cx="594360" cy="5943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32104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53218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merchant profiles, transaction history, and conversation logs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 rot="-360000">
            <a:off x="3063240" y="16642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1FAA6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 rot="-360000">
            <a:off x="3063240" y="1664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sponsor tech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3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530352"/>
            <a:ext cx="914400" cy="288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five hops — from a merchant's voice to a verified action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69164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691640"/>
            <a:ext cx="1828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0514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Hindi/Hinglish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834640" y="169164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926080" y="1691640"/>
            <a:ext cx="1828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Vyapari Mitra App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2280514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no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needed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74920" y="169164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166360" y="1691640"/>
            <a:ext cx="1828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Sarvam-105B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2280514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Hindi/Hinglish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NLU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315200" y="169164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406640" y="1691640"/>
            <a:ext cx="1828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280514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555480" y="169164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0090C4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646920" y="1691640"/>
            <a:ext cx="1828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2280514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+ written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merchant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606040" y="2217420"/>
            <a:ext cx="228600" cy="9144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846320" y="2217420"/>
            <a:ext cx="228600" cy="9144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086600" y="2217420"/>
            <a:ext cx="228600" cy="9144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326880" y="2217420"/>
            <a:ext cx="228600" cy="9144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3703320" y="3813048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SPONSOR-TECH LAYER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703320" y="41605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3794760" y="41605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Cognee Memory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715000" y="41605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806440" y="41605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Settlement API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26680" y="41605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7818120" y="41605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 Signal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738360" y="41605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9829800" y="41605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 flipV="1">
            <a:off x="4594860" y="2743200"/>
            <a:ext cx="1988820" cy="1417320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V="1">
            <a:off x="6606540" y="2743200"/>
            <a:ext cx="1312164" cy="1417320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 flipV="1">
            <a:off x="8618220" y="2743200"/>
            <a:ext cx="105156" cy="1417320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522208" y="2743200"/>
            <a:ext cx="2107692" cy="1417320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7" name="Shape 34"/>
          <p:cNvSpPr/>
          <p:nvPr/>
        </p:nvSpPr>
        <p:spPr>
          <a:xfrm rot="240000">
            <a:off x="8366760" y="32461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2A93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 rot="240000">
            <a:off x="836676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B24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action, not just advice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Vyapari Mitra Wins</a:t>
            </a:r>
            <a:endParaRPr lang="en-US" sz="3300" dirty="0"/>
          </a:p>
        </p:txBody>
      </p:sp>
      <p:pic>
        <p:nvPicPr>
          <p:cNvPr id="3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530352"/>
            <a:ext cx="914400" cy="288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straight, feature-by-feature comparison against every category of alternative on the market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4343400"/>
                <a:gridCol w="1691640"/>
                <a:gridCol w="1691640"/>
                <a:gridCol w="1691640"/>
                <a:gridCol w="1508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Fraud-Detection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D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Vyapari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C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Hindi/Hinglish natively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in THIS merchant's own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ONE concrete action, not raw numbers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fraud &amp; QR-swap 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trigger the action itself (n8n)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new hardware or app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7CDD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AA6B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 rot="240000">
            <a:off x="9052560" y="105156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A93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 rot="240000">
            <a:off x="9052560" y="1051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B24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full picture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&amp; Benefits</a:t>
            </a:r>
            <a:endParaRPr lang="en-US" sz="3500" dirty="0"/>
          </a:p>
        </p:txBody>
      </p:sp>
      <p:pic>
        <p:nvPicPr>
          <p:cNvPr id="3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566928"/>
            <a:ext cx="914400" cy="28806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7373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90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4M+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697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merchants who could get a growth copilot instantly, at near-zero marginal cost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43400" y="17373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34340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90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10+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697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Sarvam AI can extend Vyapari Mitra to beyond this Mumbai demo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0" y="17373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90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697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apps to install — works inside the merchant's existing Paytm touchpoints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FAA6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858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Merchants: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38587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sales through personalised nudges, plus real money saved from fraud caught before it happens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727448"/>
            <a:ext cx="502920" cy="502920"/>
          </a:xfrm>
          <a:prstGeom prst="ellipse">
            <a:avLst/>
          </a:prstGeom>
          <a:solidFill>
            <a:srgbClr val="1FAA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7000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Paytm: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470001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fraud disputes and chargeback complaints to resolve — and a daily reason to open the app beyond payments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5568696"/>
            <a:ext cx="502920" cy="502920"/>
          </a:xfrm>
          <a:prstGeom prst="ellipse">
            <a:avLst/>
          </a:prstGeom>
          <a:solidFill>
            <a:srgbClr val="1FAA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54126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Economy: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554126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small businesses get enterprise-grade growth intelligence and fraud protection in their own language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Wins</a:t>
            </a:r>
            <a:endParaRPr lang="en-US" sz="3000" dirty="0"/>
          </a:p>
        </p:txBody>
      </p:sp>
      <p:pic>
        <p:nvPicPr>
          <p:cNvPr id="3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566928"/>
            <a:ext cx="914400" cy="288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51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capabilities nobody else combines, on top of the data merchants already generate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783080" y="1691640"/>
            <a:ext cx="2743200" cy="2743200"/>
          </a:xfrm>
          <a:prstGeom prst="ellipse">
            <a:avLst/>
          </a:prstGeom>
          <a:solidFill>
            <a:srgbClr val="00BAF2">
              <a:alpha val="5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3108960"/>
            <a:ext cx="2743200" cy="2743200"/>
          </a:xfrm>
          <a:prstGeom prst="ellipse">
            <a:avLst/>
          </a:prstGeom>
          <a:solidFill>
            <a:srgbClr val="C0392B">
              <a:alpha val="5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926080" y="3108960"/>
            <a:ext cx="2743200" cy="2743200"/>
          </a:xfrm>
          <a:prstGeom prst="ellipse">
            <a:avLst/>
          </a:prstGeom>
          <a:solidFill>
            <a:srgbClr val="F2A93B">
              <a:alpha val="5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14600" y="36576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514600" y="3657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-120000">
            <a:off x="1965960" y="148132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00BAF2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 rot="-120000">
            <a:off x="1965960" y="1481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B24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Vernacular AI (Sarvam)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 rot="-240000">
            <a:off x="320040" y="55321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 rot="-240000">
            <a:off x="320040" y="5532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Fraud Shield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 rot="180000">
            <a:off x="4114800" y="553212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2A93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 rot="180000">
            <a:off x="4114800" y="5532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B24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Autonomous Action (n8n)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Channel Mix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537960" y="2011680"/>
          <a:ext cx="48463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537960" y="49834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transactions already run through Paytm QR — exactly the ledger Fraud Shield cross-checks against.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Model</a:t>
            </a:r>
            <a:endParaRPr lang="en-US" sz="2900" dirty="0"/>
          </a:p>
        </p:txBody>
      </p:sp>
      <p:pic>
        <p:nvPicPr>
          <p:cNvPr id="3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566928"/>
            <a:ext cx="914400" cy="288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plug into Paytm's existing merchant monetisation — not a separate product to sell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214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Copilot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insights for every merchant; premium tier for automated campaign execution &amp; deeper analytics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182880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14884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1214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Subscription Add-on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inside existing Paytm for Business plans as a value-add tier — low CAC, existing distribution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0233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4343400"/>
            <a:ext cx="685800" cy="685800"/>
          </a:xfrm>
          <a:prstGeom prst="ellipse">
            <a:avLst/>
          </a:prstGeom>
          <a:solidFill>
            <a:srgbClr val="1FAA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3159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Growth Actions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5120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pay to surface relevant offers (e.g. supplier discounts) through the copilot's suggestions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26480" y="40233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47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46520" y="4343400"/>
            <a:ext cx="685800" cy="685800"/>
          </a:xfrm>
          <a:prstGeom prst="ellipse">
            <a:avLst/>
          </a:prstGeom>
          <a:solidFill>
            <a:srgbClr val="0090C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4652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43159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Insights (B2B)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5120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Anonymised, aggregated local-commerce trend data licensed to FMCG/brand partners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0080" y="6263640"/>
            <a:ext cx="457200" cy="45720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62453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compliance-first: no fund movement by the copilot itself — every payment/cashback action stays inside Paytm's existing NPCI-compliant rails; Vyapari Mitra only recommends and triggers, it never touches money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743200"/>
            <a:ext cx="5486400" cy="5486400"/>
          </a:xfrm>
          <a:prstGeom prst="ellipse">
            <a:avLst/>
          </a:prstGeom>
          <a:solidFill>
            <a:srgbClr val="E8F8FE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E8F8FE"/>
          </a:solidFill>
          <a:ln/>
        </p:spPr>
      </p:sp>
      <p:pic>
        <p:nvPicPr>
          <p:cNvPr id="4" name="Image 0" descr="C:\Users\ASUS\Paytm_Hackthon\pitch\paytm_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640080"/>
            <a:ext cx="1417320" cy="446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0B24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with AI. Solve for India.</a:t>
            </a:r>
            <a:endParaRPr lang="en-US" sz="4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Vyapari Mitra — giving every Paytm merchant an AI business partner who speaks their language.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The Vision   ·   Ayush Korde  &amp;  Harshita Girase   ·   Powered by Sarvam 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2026-09-26T11:32:25Z</dcterms:created>
  <dcterms:modified xsi:type="dcterms:W3CDTF">2026-09-26T11:32:25Z</dcterms:modified>
</cp:coreProperties>
</file>